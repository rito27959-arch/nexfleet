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  <a:ex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  <a:ex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"/>
          <p:cNvSpPr/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</p:txBody>
      </p:sp>
      <p:sp>
        <p:nvSpPr>
          <p:cNvPr id="2" name="BigTitle"/>
          <p:cNvSpPr/>
          <p:nvPr/>
        </p:nvSpPr>
        <p:spPr>
          <a:xfrm>
            <a:off x="609600" y="1900000"/>
            <a:ext cx="10972800" cy="14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 spcBef="0">
              <a:spcAft>0</a:spcAft>
            </a:pPr>
            <a:r>
              <a:rPr lang="fr-FR" sz="6600" b="1">
                <a:solidFill>
                  <a:srgbClr val="E2E8F0"/>
                </a:solidFill>
              </a:rPr>
              <a:t>NexFleet</a:t>
            </a:r>
          </a:p>
        </p:txBody>
      </p:sp>
      <p:sp>
        <p:nvSpPr>
          <p:cNvPr id="3" name="Sub"/>
          <p:cNvSpPr/>
          <p:nvPr/>
        </p:nvSpPr>
        <p:spPr>
          <a:xfrm>
            <a:off x="914400" y="3300000"/>
            <a:ext cx="10363200" cy="8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 spcBef="0">
              <a:spcAft>0</a:spcAft>
            </a:pPr>
            <a:r>
              <a:rPr lang="fr-FR" sz="2600">
                <a:solidFill>
                  <a:srgbClr val="38BDF8"/>
                </a:solidFill>
              </a:rPr>
              <a:t>Gestion de parc automobile — Cahier des charges v1.0</a:t>
            </a:r>
          </a:p>
        </p:txBody>
      </p:sp>
      <p:sp>
        <p:nvSpPr>
          <p:cNvPr id="4" name="Bullets"/>
          <p:cNvSpPr/>
          <p:nvPr/>
        </p:nvSpPr>
        <p:spPr>
          <a:xfrm>
            <a:off x="1828800" y="4300000"/>
            <a:ext cx="8534400" cy="20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 spcBef="800">
              <a:spcAft>800</a:spcAft>
            </a:pPr>
            <a:r>
              <a:rPr lang="fr-FR" sz="1800">
                <a:solidFill>
                  <a:srgbClr val="94A3B8"/>
                </a:solidFill>
              </a:rPr>
              <a:t>SPA vanilla JS • Flask (Python) • SQLite • ReportLab</a:t>
            </a:r>
          </a:p>
          <a:p>
            <a:pPr algn="ctr" spcBef="800">
              <a:spcAft>800</a:spcAft>
            </a:pPr>
            <a:r>
              <a:rPr lang="fr-FR" sz="1800">
                <a:solidFill>
                  <a:srgbClr val="94A3B8"/>
                </a:solidFill>
              </a:rPr>
              <a:t>68 tests automatisés • CI GitHub Actions</a:t>
            </a:r>
          </a:p>
          <a:p>
            <a:pPr algn="ctr" spcBef="800">
              <a:spcAft>800</a:spcAft>
            </a:pPr>
            <a:r>
              <a:rPr lang="fr-FR" sz="1800">
                <a:solidFill>
                  <a:srgbClr val="94A3B8"/>
                </a:solidFill>
              </a:rPr>
              <a:t>Présentation du projet —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  <a:ex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914400" y="457200"/>
            <a:ext cx="10600000" cy="1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4000" b="1">
                <a:solidFill>
                  <a:srgbClr val="E2E8F0"/>
                </a:solidFill>
              </a:rPr>
              <a:t>1 — Contexte &amp; problématique</a:t>
            </a:r>
          </a:p>
        </p:txBody>
      </p:sp>
      <p:sp>
        <p:nvSpPr>
          <p:cNvPr id="3" name="Left"/>
          <p:cNvSpPr/>
          <p:nvPr/>
        </p:nvSpPr>
        <p:spPr>
          <a:xfrm>
            <a:off x="1066800" y="2150000"/>
            <a:ext cx="5000000" cy="3708000"/>
          </a:xfrm>
          <a:prstGeom prst="rect">
            <a:avLst/>
          </a:prstGeom>
          <a:ln>
            <a:noFill/>
          </a:ln>
        </p:spPr>
        <p:txBody>
          <a:bodyPr wrap="square" lIns="274638" tIns="91440" rIns="274638" bIns="91440">
            <a:normAutofit/>
          </a:bodyPr>
          <a:lstStyle/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Informations dispersées : fichiers, mails, cahiers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Échéances manquées : assurance, vignette, contrôle technique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Coûts cachés : immobilisations, interventions non planifiées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Documents réglementaires produits à la main</a:t>
            </a:r>
          </a:p>
        </p:txBody>
      </p:sp>
      <p:sp>
        <p:nvSpPr>
          <p:cNvPr id="4" name="Right"/>
          <p:cNvSpPr/>
          <p:nvPr/>
        </p:nvSpPr>
        <p:spPr>
          <a:xfrm>
            <a:off x="6500000" y="2150000"/>
            <a:ext cx="5000000" cy="3708000"/>
          </a:xfrm>
          <a:prstGeom prst="rect">
            <a:avLst/>
          </a:prstGeom>
          <a:ln>
            <a:noFill/>
          </a:ln>
        </p:spPr>
        <p:txBody>
          <a:bodyPr wrap="square" lIns="274638" tIns="91440" rIns="274638" bIns="91440">
            <a:normAutofit/>
          </a:bodyPr>
          <a:lstStyle/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38BDF8"/>
                </a:solidFill>
              </a:rPr>
              <a:t>→ Un outil unique, centralisé et sécurisé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38BDF8"/>
                </a:solidFill>
              </a:rPr>
              <a:t>→ Alertes automatiques d'échéances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38BDF8"/>
                </a:solidFill>
              </a:rPr>
              <a:t>→ Rapports PDF professionnels en un clic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38BDF8"/>
                </a:solidFill>
              </a:rPr>
              <a:t>→ Pilotage par indicateurs (KPIs)</a:t>
            </a:r>
          </a:p>
        </p:txBody>
      </p:sp>
      <p:sp>
        <p:nvSpPr>
          <p:cNvPr id="5" name="FLeft"/>
          <p:cNvSpPr/>
          <p:nvPr/>
        </p:nvSpPr>
        <p:spPr>
          <a:xfrm>
            <a:off x="914400" y="6458000"/>
            <a:ext cx="60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NexFleet — Gestion de parc automobile</a:t>
            </a:r>
          </a:p>
        </p:txBody>
      </p:sp>
      <p:sp>
        <p:nvSpPr>
          <p:cNvPr id="6" name="FRight"/>
          <p:cNvSpPr/>
          <p:nvPr/>
        </p:nvSpPr>
        <p:spPr>
          <a:xfrm>
            <a:off x="10692000" y="6458000"/>
            <a:ext cx="8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  <a:ex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914400" y="457200"/>
            <a:ext cx="10600000" cy="1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4000" b="1">
                <a:solidFill>
                  <a:srgbClr val="E2E8F0"/>
                </a:solidFill>
              </a:rPr>
              <a:t>2 — Objectifs</a:t>
            </a:r>
          </a:p>
        </p:txBody>
      </p:sp>
      <p:sp>
        <p:nvSpPr>
          <p:cNvPr id="3" name="Body"/>
          <p:cNvSpPr/>
          <p:nvPr/>
        </p:nvSpPr>
        <p:spPr>
          <a:xfrm>
            <a:off x="1066800" y="2150000"/>
            <a:ext cx="10200000" cy="3708000"/>
          </a:xfrm>
          <a:prstGeom prst="rect">
            <a:avLst/>
          </a:prstGeom>
          <a:ln>
            <a:noFill/>
          </a:ln>
        </p:spPr>
        <p:txBody>
          <a:bodyPr wrap="square" lIns="274638" tIns="91440" rIns="274638" bIns="91440">
            <a:normAutofit/>
          </a:bodyPr>
          <a:lstStyle/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Centraliser les données du parc dans une base unique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Anticiper les échéances réglementaires (jours restants)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Accélérer la production des documents (fiches de contrôle, rapports)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Fiabiliser la décision : tableau de bord et statistiques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Garantir sécurité, traçabilité (audit) et disponibilité</a:t>
            </a:r>
          </a:p>
        </p:txBody>
      </p:sp>
      <p:sp>
        <p:nvSpPr>
          <p:cNvPr id="4" name="FLeft"/>
          <p:cNvSpPr/>
          <p:nvPr/>
        </p:nvSpPr>
        <p:spPr>
          <a:xfrm>
            <a:off x="914400" y="6458000"/>
            <a:ext cx="60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NexFleet — Gestion de parc automobile</a:t>
            </a:r>
          </a:p>
        </p:txBody>
      </p:sp>
      <p:sp>
        <p:nvSpPr>
          <p:cNvPr id="5" name="FRight"/>
          <p:cNvSpPr/>
          <p:nvPr/>
        </p:nvSpPr>
        <p:spPr>
          <a:xfrm>
            <a:off x="10692000" y="6458000"/>
            <a:ext cx="8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  <a:ex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914400" y="457200"/>
            <a:ext cx="10600000" cy="1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4000" b="1">
                <a:solidFill>
                  <a:srgbClr val="E2E8F0"/>
                </a:solidFill>
              </a:rPr>
              <a:t>3 — Périmètre fonctionnel</a:t>
            </a:r>
          </a:p>
        </p:txBody>
      </p:sp>
      <p:sp>
        <p:nvSpPr>
          <p:cNvPr id="3" name="Body"/>
          <p:cNvSpPr/>
          <p:nvPr/>
        </p:nvSpPr>
        <p:spPr>
          <a:xfrm>
            <a:off x="1066800" y="2150000"/>
            <a:ext cx="10200000" cy="3708000"/>
          </a:xfrm>
          <a:prstGeom prst="rect">
            <a:avLst/>
          </a:prstGeom>
          <a:ln>
            <a:noFill/>
          </a:ln>
        </p:spPr>
        <p:txBody>
          <a:bodyPr wrap="square" lIns="274638" tIns="91440" rIns="274638" bIns="91440">
            <a:normAutofit/>
          </a:bodyPr>
          <a:lstStyle/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Tableau de bord : KPIs animés, graphiques canvas, alertes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Véhicules : CRUD, photos + miniatures, échéances, fiche PDF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Conducteurs : matricule, permis et validité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Contrôles techniques : fiche interactive, historique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Maintenance : coûts, garages, échéances prévisionnelles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Pneumatiques, relevés kilométriques, documents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Import/export Excel-CSV, sauvegarde SQLite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Administration : utilisateurs, rôles, audit, données de démo</a:t>
            </a:r>
          </a:p>
        </p:txBody>
      </p:sp>
      <p:sp>
        <p:nvSpPr>
          <p:cNvPr id="4" name="FLeft"/>
          <p:cNvSpPr/>
          <p:nvPr/>
        </p:nvSpPr>
        <p:spPr>
          <a:xfrm>
            <a:off x="914400" y="6458000"/>
            <a:ext cx="60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NexFleet — Gestion de parc automobile</a:t>
            </a:r>
          </a:p>
        </p:txBody>
      </p:sp>
      <p:sp>
        <p:nvSpPr>
          <p:cNvPr id="5" name="FRight"/>
          <p:cNvSpPr/>
          <p:nvPr/>
        </p:nvSpPr>
        <p:spPr>
          <a:xfrm>
            <a:off x="10692000" y="6458000"/>
            <a:ext cx="8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  <a:ex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914400" y="457200"/>
            <a:ext cx="10600000" cy="1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4000" b="1">
                <a:solidFill>
                  <a:srgbClr val="E2E8F0"/>
                </a:solidFill>
              </a:rPr>
              <a:t>4 — Architecture technique</a:t>
            </a:r>
          </a:p>
        </p:txBody>
      </p:sp>
      <p:sp>
        <p:nvSpPr>
          <p:cNvPr id="3" name="Body"/>
          <p:cNvSpPr/>
          <p:nvPr/>
        </p:nvSpPr>
        <p:spPr>
          <a:xfrm>
            <a:off x="1066800" y="2150000"/>
            <a:ext cx="10200000" cy="3708000"/>
          </a:xfrm>
          <a:prstGeom prst="rect">
            <a:avLst/>
          </a:prstGeom>
          <a:ln>
            <a:noFill/>
          </a:ln>
        </p:spPr>
        <p:txBody>
          <a:bodyPr wrap="square" lIns="274638" tIns="91440" rIns="274638" bIns="91440">
            <a:normAutofit/>
          </a:bodyPr>
          <a:lstStyle/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Frontend : SPA vanilla JS (composants h()), HTML5, CSS3, Canvas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Backend : Flask 3 — API REST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Base : SQLite, schéma versionné avec migrations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Authentification : JWT (PyJWT) + PBKDF2-SHA256 (Werkzeug)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PDF : ReportLab • Images : Pillow • Import/Export : stdlib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Serveur : Waitress (WSGI multithreadé) — run.bat</a:t>
            </a:r>
          </a:p>
        </p:txBody>
      </p:sp>
      <p:sp>
        <p:nvSpPr>
          <p:cNvPr id="4" name="FLeft"/>
          <p:cNvSpPr/>
          <p:nvPr/>
        </p:nvSpPr>
        <p:spPr>
          <a:xfrm>
            <a:off x="914400" y="6458000"/>
            <a:ext cx="60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NexFleet — Gestion de parc automobile</a:t>
            </a:r>
          </a:p>
        </p:txBody>
      </p:sp>
      <p:sp>
        <p:nvSpPr>
          <p:cNvPr id="5" name="FRight"/>
          <p:cNvSpPr/>
          <p:nvPr/>
        </p:nvSpPr>
        <p:spPr>
          <a:xfrm>
            <a:off x="10692000" y="6458000"/>
            <a:ext cx="8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  <a:ex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914400" y="457200"/>
            <a:ext cx="10600000" cy="1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4000" b="1">
                <a:solidFill>
                  <a:srgbClr val="E2E8F0"/>
                </a:solidFill>
              </a:rPr>
              <a:t>5 — Modèle de données</a:t>
            </a:r>
          </a:p>
        </p:txBody>
      </p:sp>
      <p:sp>
        <p:nvSpPr>
          <p:cNvPr id="3" name="Body"/>
          <p:cNvSpPr/>
          <p:nvPr/>
        </p:nvSpPr>
        <p:spPr>
          <a:xfrm>
            <a:off x="1066800" y="2150000"/>
            <a:ext cx="10200000" cy="3708000"/>
          </a:xfrm>
          <a:prstGeom prst="rect">
            <a:avLst/>
          </a:prstGeom>
          <a:ln>
            <a:noFill/>
          </a:ln>
        </p:spPr>
        <p:txBody>
          <a:bodyPr wrap="square" lIns="274638" tIns="91440" rIns="274638" bIns="91440">
            <a:normAutofit/>
          </a:bodyPr>
          <a:lstStyle/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users — comptes, rôles admin / user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vehicles — échéances, statut, photo + miniature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drivers — matricule, contact, permis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controls — contrôles techniques &amp; points d'inspection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maintenance — interventions, coûts, garages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tires • odometer • documents • settings • audit_log</a:t>
            </a:r>
          </a:p>
        </p:txBody>
      </p:sp>
      <p:sp>
        <p:nvSpPr>
          <p:cNvPr id="4" name="FLeft"/>
          <p:cNvSpPr/>
          <p:nvPr/>
        </p:nvSpPr>
        <p:spPr>
          <a:xfrm>
            <a:off x="914400" y="6458000"/>
            <a:ext cx="60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NexFleet — Gestion de parc automobile</a:t>
            </a:r>
          </a:p>
        </p:txBody>
      </p:sp>
      <p:sp>
        <p:nvSpPr>
          <p:cNvPr id="5" name="FRight"/>
          <p:cNvSpPr/>
          <p:nvPr/>
        </p:nvSpPr>
        <p:spPr>
          <a:xfrm>
            <a:off x="10692000" y="6458000"/>
            <a:ext cx="8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  <a:ex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914400" y="457200"/>
            <a:ext cx="10600000" cy="1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4000" b="1">
                <a:solidFill>
                  <a:srgbClr val="E2E8F0"/>
                </a:solidFill>
              </a:rPr>
              <a:t>6 — Sécurité</a:t>
            </a:r>
          </a:p>
        </p:txBody>
      </p:sp>
      <p:sp>
        <p:nvSpPr>
          <p:cNvPr id="3" name="Body"/>
          <p:cNvSpPr/>
          <p:nvPr/>
        </p:nvSpPr>
        <p:spPr>
          <a:xfrm>
            <a:off x="1066800" y="2150000"/>
            <a:ext cx="10200000" cy="3708000"/>
          </a:xfrm>
          <a:prstGeom prst="rect">
            <a:avLst/>
          </a:prstGeom>
          <a:ln>
            <a:noFill/>
          </a:ln>
        </p:spPr>
        <p:txBody>
          <a:bodyPr wrap="square" lIns="274638" tIns="91440" rIns="274638" bIns="91440">
            <a:normAutofit/>
          </a:bodyPr>
          <a:lstStyle/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Mots de passe hachés PBKDF2-SHA256, sel aléatoire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Sessions JWT HS256, clé secrète générée hors code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SQL 100 % paramétré — anti-injection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Validation et échappement des entrées (client + serveur)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Rôles admin / user, contrôle des accès (403)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Journal d'audit des actions sensibles</a:t>
            </a:r>
          </a:p>
        </p:txBody>
      </p:sp>
      <p:sp>
        <p:nvSpPr>
          <p:cNvPr id="4" name="FLeft"/>
          <p:cNvSpPr/>
          <p:nvPr/>
        </p:nvSpPr>
        <p:spPr>
          <a:xfrm>
            <a:off x="914400" y="6458000"/>
            <a:ext cx="60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NexFleet — Gestion de parc automobile</a:t>
            </a:r>
          </a:p>
        </p:txBody>
      </p:sp>
      <p:sp>
        <p:nvSpPr>
          <p:cNvPr id="5" name="FRight"/>
          <p:cNvSpPr/>
          <p:nvPr/>
        </p:nvSpPr>
        <p:spPr>
          <a:xfrm>
            <a:off x="10692000" y="6458000"/>
            <a:ext cx="8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  <a:ex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914400" y="457200"/>
            <a:ext cx="10600000" cy="1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4000" b="1">
                <a:solidFill>
                  <a:srgbClr val="E2E8F0"/>
                </a:solidFill>
              </a:rPr>
              <a:t>7 — API REST (aperçu)</a:t>
            </a:r>
          </a:p>
        </p:txBody>
      </p:sp>
      <p:sp>
        <p:nvSpPr>
          <p:cNvPr id="3" name="Body"/>
          <p:cNvSpPr/>
          <p:nvPr/>
        </p:nvSpPr>
        <p:spPr>
          <a:xfrm>
            <a:off x="1066800" y="2150000"/>
            <a:ext cx="10200000" cy="3708000"/>
          </a:xfrm>
          <a:prstGeom prst="rect">
            <a:avLst/>
          </a:prstGeom>
          <a:ln>
            <a:noFill/>
          </a:ln>
        </p:spPr>
        <p:txBody>
          <a:bodyPr wrap="square" lIns="274638" tIns="91440" rIns="274638" bIns="91440">
            <a:normAutofit/>
          </a:bodyPr>
          <a:lstStyle/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POST /api/auth/login · register — JWT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GET /api/stats — KPIs et alertes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GET/POST /api/vehicles · PUT/DELETE — CRUD + photo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CRUD : /api/drivers · /api/controls · /api/maintenance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GET /api/maintenance/forecast — prévisions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PDF : /api/parc/pdf · /api/reports/monthly/pdf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GET /api/export · POST /api/import · GET /api/backup</a:t>
            </a:r>
          </a:p>
        </p:txBody>
      </p:sp>
      <p:sp>
        <p:nvSpPr>
          <p:cNvPr id="4" name="FLeft"/>
          <p:cNvSpPr/>
          <p:nvPr/>
        </p:nvSpPr>
        <p:spPr>
          <a:xfrm>
            <a:off x="914400" y="6458000"/>
            <a:ext cx="60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NexFleet — Gestion de parc automobile</a:t>
            </a:r>
          </a:p>
        </p:txBody>
      </p:sp>
      <p:sp>
        <p:nvSpPr>
          <p:cNvPr id="5" name="FRight"/>
          <p:cNvSpPr/>
          <p:nvPr/>
        </p:nvSpPr>
        <p:spPr>
          <a:xfrm>
            <a:off x="10692000" y="6458000"/>
            <a:ext cx="8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  <a:ex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914400" y="457200"/>
            <a:ext cx="10600000" cy="1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4000" b="1">
                <a:solidFill>
                  <a:srgbClr val="E2E8F0"/>
                </a:solidFill>
              </a:rPr>
              <a:t>8 — Design &amp; expérience</a:t>
            </a:r>
          </a:p>
        </p:txBody>
      </p:sp>
      <p:sp>
        <p:nvSpPr>
          <p:cNvPr id="3" name="Body"/>
          <p:cNvSpPr/>
          <p:nvPr/>
        </p:nvSpPr>
        <p:spPr>
          <a:xfrm>
            <a:off x="1066800" y="2150000"/>
            <a:ext cx="10200000" cy="3708000"/>
          </a:xfrm>
          <a:prstGeom prst="rect">
            <a:avLst/>
          </a:prstGeom>
          <a:ln>
            <a:noFill/>
          </a:ln>
        </p:spPr>
        <p:txBody>
          <a:bodyPr wrap="square" lIns="274638" tIns="91440" rIns="274638" bIns="91440">
            <a:normAutofit/>
          </a:bodyPr>
          <a:lstStyle/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Thème sombre « aurora » : blobs dégradés + grille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Cartes en verre (glassmorphism, backdrop blur)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Animations : compteurs, graphiques canvas, modales ressort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Toasts de confirmation, badges d'échéances clignotants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Entièrement responsive (sidebar coulissante sur mobile)</a:t>
            </a:r>
          </a:p>
        </p:txBody>
      </p:sp>
      <p:sp>
        <p:nvSpPr>
          <p:cNvPr id="4" name="FLeft"/>
          <p:cNvSpPr/>
          <p:nvPr/>
        </p:nvSpPr>
        <p:spPr>
          <a:xfrm>
            <a:off x="914400" y="6458000"/>
            <a:ext cx="60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NexFleet — Gestion de parc automobile</a:t>
            </a:r>
          </a:p>
        </p:txBody>
      </p:sp>
      <p:sp>
        <p:nvSpPr>
          <p:cNvPr id="5" name="FRight"/>
          <p:cNvSpPr/>
          <p:nvPr/>
        </p:nvSpPr>
        <p:spPr>
          <a:xfrm>
            <a:off x="10692000" y="6458000"/>
            <a:ext cx="8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  <a:ex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914400" y="457200"/>
            <a:ext cx="10600000" cy="1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4000" b="1">
                <a:solidFill>
                  <a:srgbClr val="E2E8F0"/>
                </a:solidFill>
              </a:rPr>
              <a:t>9 — Qualité &amp; tests</a:t>
            </a:r>
          </a:p>
        </p:txBody>
      </p:sp>
      <p:sp>
        <p:nvSpPr>
          <p:cNvPr id="3" name="Body"/>
          <p:cNvSpPr/>
          <p:nvPr/>
        </p:nvSpPr>
        <p:spPr>
          <a:xfrm>
            <a:off x="1066800" y="2150000"/>
            <a:ext cx="10200000" cy="3708000"/>
          </a:xfrm>
          <a:prstGeom prst="rect">
            <a:avLst/>
          </a:prstGeom>
          <a:ln>
            <a:noFill/>
          </a:ln>
        </p:spPr>
        <p:txBody>
          <a:bodyPr wrap="square" lIns="274638" tIns="91440" rIns="274638" bIns="91440">
            <a:normAutofit/>
          </a:bodyPr>
          <a:lstStyle/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68 tests pytest : auth, véhicules (vignettes), maintenance, contrôles, pneus, conducteurs, stats, calendrier, notifications, paramètres, sauvegarde, démo, export, PDF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Base de test isolée (temp) — aucune donnée réelle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CI GitHub Actions : Python 3.10 / 3.11 / 3.12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Exécution locale : test.bat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Documentation : backend/API.md</a:t>
            </a:r>
          </a:p>
        </p:txBody>
      </p:sp>
      <p:sp>
        <p:nvSpPr>
          <p:cNvPr id="4" name="FLeft"/>
          <p:cNvSpPr/>
          <p:nvPr/>
        </p:nvSpPr>
        <p:spPr>
          <a:xfrm>
            <a:off x="914400" y="6458000"/>
            <a:ext cx="60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NexFleet — Gestion de parc automobile</a:t>
            </a:r>
          </a:p>
        </p:txBody>
      </p:sp>
      <p:sp>
        <p:nvSpPr>
          <p:cNvPr id="5" name="FRight"/>
          <p:cNvSpPr/>
          <p:nvPr/>
        </p:nvSpPr>
        <p:spPr>
          <a:xfrm>
            <a:off x="10692000" y="6458000"/>
            <a:ext cx="8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  <a:ex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914400" y="457200"/>
            <a:ext cx="10600000" cy="1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4000" b="1">
                <a:solidFill>
                  <a:srgbClr val="E2E8F0"/>
                </a:solidFill>
              </a:rPr>
              <a:t>10 — Déploiement</a:t>
            </a:r>
          </a:p>
        </p:txBody>
      </p:sp>
      <p:sp>
        <p:nvSpPr>
          <p:cNvPr id="3" name="Body"/>
          <p:cNvSpPr/>
          <p:nvPr/>
        </p:nvSpPr>
        <p:spPr>
          <a:xfrm>
            <a:off x="1066800" y="2150000"/>
            <a:ext cx="10200000" cy="3708000"/>
          </a:xfrm>
          <a:prstGeom prst="rect">
            <a:avLst/>
          </a:prstGeom>
          <a:ln>
            <a:noFill/>
          </a:ln>
        </p:spPr>
        <p:txBody>
          <a:bodyPr wrap="square" lIns="274638" tIns="91440" rIns="274638" bIns="91440">
            <a:normAutofit/>
          </a:bodyPr>
          <a:lstStyle/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Prérequis : Python 3.9+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setup.bat → venv + dépendances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run.bat → serveur waitress + navigateur (127.0.0.1:5000)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Première inscription = compte administrateur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Production : reverse-proxy HTTPS, CORS restreint</a:t>
            </a:r>
          </a:p>
        </p:txBody>
      </p:sp>
      <p:sp>
        <p:nvSpPr>
          <p:cNvPr id="4" name="FLeft"/>
          <p:cNvSpPr/>
          <p:nvPr/>
        </p:nvSpPr>
        <p:spPr>
          <a:xfrm>
            <a:off x="914400" y="6458000"/>
            <a:ext cx="60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NexFleet — Gestion de parc automobile</a:t>
            </a:r>
          </a:p>
        </p:txBody>
      </p:sp>
      <p:sp>
        <p:nvSpPr>
          <p:cNvPr id="5" name="FRight"/>
          <p:cNvSpPr/>
          <p:nvPr/>
        </p:nvSpPr>
        <p:spPr>
          <a:xfrm>
            <a:off x="10692000" y="6458000"/>
            <a:ext cx="8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  <a:ex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914400" y="457200"/>
            <a:ext cx="10600000" cy="1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4000" b="1">
                <a:solidFill>
                  <a:srgbClr val="E2E8F0"/>
                </a:solidFill>
              </a:rPr>
              <a:t>11 — Planning</a:t>
            </a:r>
          </a:p>
        </p:txBody>
      </p:sp>
      <p:sp>
        <p:nvSpPr>
          <p:cNvPr id="3" name="Body"/>
          <p:cNvSpPr/>
          <p:nvPr/>
        </p:nvSpPr>
        <p:spPr>
          <a:xfrm>
            <a:off x="1066800" y="2150000"/>
            <a:ext cx="10200000" cy="3708000"/>
          </a:xfrm>
          <a:prstGeom prst="rect">
            <a:avLst/>
          </a:prstGeom>
          <a:ln>
            <a:noFill/>
          </a:ln>
        </p:spPr>
        <p:txBody>
          <a:bodyPr wrap="square" lIns="274638" tIns="91440" rIns="274638" bIns="91440">
            <a:normAutofit/>
          </a:bodyPr>
          <a:lstStyle/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1. Cadrage (besoin, maquettes, choix techniques) — 1 sem.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2. Socle (authentification, base, API) — 1 sem.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3. Modules cœur (véhicules, conducteurs, contrôles, maintenance) — 2 sem.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4. Reporting (PDF, import/export, sauvegarde, tableau de bord) — 1,5 sem.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5. Qualité (tests, CI, documentation, recette) — 1 sem.</a:t>
            </a:r>
          </a:p>
        </p:txBody>
      </p:sp>
      <p:sp>
        <p:nvSpPr>
          <p:cNvPr id="4" name="FLeft"/>
          <p:cNvSpPr/>
          <p:nvPr/>
        </p:nvSpPr>
        <p:spPr>
          <a:xfrm>
            <a:off x="914400" y="6458000"/>
            <a:ext cx="60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NexFleet — Gestion de parc automobile</a:t>
            </a:r>
          </a:p>
        </p:txBody>
      </p:sp>
      <p:sp>
        <p:nvSpPr>
          <p:cNvPr id="5" name="FRight"/>
          <p:cNvSpPr/>
          <p:nvPr/>
        </p:nvSpPr>
        <p:spPr>
          <a:xfrm>
            <a:off x="10692000" y="6458000"/>
            <a:ext cx="8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  <a:ex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914400" y="457200"/>
            <a:ext cx="10600000" cy="1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4000" b="1">
                <a:solidFill>
                  <a:srgbClr val="E2E8F0"/>
                </a:solidFill>
              </a:rPr>
              <a:t>12 — Évolutions futures</a:t>
            </a:r>
          </a:p>
        </p:txBody>
      </p:sp>
      <p:sp>
        <p:nvSpPr>
          <p:cNvPr id="3" name="Body"/>
          <p:cNvSpPr/>
          <p:nvPr/>
        </p:nvSpPr>
        <p:spPr>
          <a:xfrm>
            <a:off x="1066800" y="2150000"/>
            <a:ext cx="10200000" cy="3708000"/>
          </a:xfrm>
          <a:prstGeom prst="rect">
            <a:avLst/>
          </a:prstGeom>
          <a:ln>
            <a:noFill/>
          </a:ln>
        </p:spPr>
        <p:txBody>
          <a:bodyPr wrap="square" lIns="274638" tIns="91440" rIns="274638" bIns="91440">
            <a:normAutofit/>
          </a:bodyPr>
          <a:lstStyle/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Application mobile (PWA) et mode hors-ligne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Alertes e-mail / SMS à l'approche des échéances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Géolocalisation et flotte connectée (temps réel)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Gestion des carburants et facturation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API publique + webhooks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Multitenant et SSO</a:t>
            </a:r>
          </a:p>
        </p:txBody>
      </p:sp>
      <p:sp>
        <p:nvSpPr>
          <p:cNvPr id="4" name="FLeft"/>
          <p:cNvSpPr/>
          <p:nvPr/>
        </p:nvSpPr>
        <p:spPr>
          <a:xfrm>
            <a:off x="914400" y="6458000"/>
            <a:ext cx="60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NexFleet — Gestion de parc automobile</a:t>
            </a:r>
          </a:p>
        </p:txBody>
      </p:sp>
      <p:sp>
        <p:nvSpPr>
          <p:cNvPr id="5" name="FRight"/>
          <p:cNvSpPr/>
          <p:nvPr/>
        </p:nvSpPr>
        <p:spPr>
          <a:xfrm>
            <a:off x="10692000" y="6458000"/>
            <a:ext cx="8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117"/>
        </a:solidFill>
        <a:effectLst/>
        <a:ex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" name="accent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/>
          <a:lstStyle/>
        </p:txBody>
      </p:sp>
      <p:sp>
        <p:nvSpPr>
          <p:cNvPr id="2" name="Title"/>
          <p:cNvSpPr/>
          <p:nvPr/>
        </p:nvSpPr>
        <p:spPr>
          <a:xfrm>
            <a:off x="914400" y="457200"/>
            <a:ext cx="10600000" cy="1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4000" b="1">
                <a:solidFill>
                  <a:srgbClr val="E2E8F0"/>
                </a:solidFill>
              </a:rPr>
              <a:t>13 — Conclusion</a:t>
            </a:r>
          </a:p>
        </p:txBody>
      </p:sp>
      <p:sp>
        <p:nvSpPr>
          <p:cNvPr id="3" name="Body"/>
          <p:cNvSpPr/>
          <p:nvPr/>
        </p:nvSpPr>
        <p:spPr>
          <a:xfrm>
            <a:off x="1066800" y="2150000"/>
            <a:ext cx="10200000" cy="3708000"/>
          </a:xfrm>
          <a:prstGeom prst="rect">
            <a:avLst/>
          </a:prstGeom>
          <a:ln>
            <a:noFill/>
          </a:ln>
        </p:spPr>
        <p:txBody>
          <a:bodyPr wrap="square" lIns="274638" tIns="91440" rIns="274638" bIns="91440">
            <a:normAutofit/>
          </a:bodyPr>
          <a:lstStyle/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NexFleet : une plateforme complète, sécurisée et moderne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Note globale 7,5/10 — Fonctionnalités 8 · Fiabilité 7,5 · Technique 7,5 · Sécurité 6,5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Base solide : 68 tests, CI, documentation, design soigné</a:t>
            </a:r>
          </a:p>
          <a:p>
            <a:pPr marL="274638" indent="-274638" spcBef="1400">
              <a:buFont typeface="Arial"/>
              <a:buChar char="▪"/>
            </a:pPr>
            <a:r>
              <a:rPr lang="fr-FR" sz="1700">
                <a:solidFill>
                  <a:srgbClr val="E2E8F0"/>
                </a:solidFill>
              </a:rPr>
              <a:t>Prochaines étapes : roadmap d'évolutions — merci !</a:t>
            </a:r>
          </a:p>
        </p:txBody>
      </p:sp>
      <p:sp>
        <p:nvSpPr>
          <p:cNvPr id="4" name="FLeft"/>
          <p:cNvSpPr/>
          <p:nvPr/>
        </p:nvSpPr>
        <p:spPr>
          <a:xfrm>
            <a:off x="914400" y="6458000"/>
            <a:ext cx="60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NexFleet — Gestion de parc automobile</a:t>
            </a:r>
          </a:p>
        </p:txBody>
      </p:sp>
      <p:sp>
        <p:nvSpPr>
          <p:cNvPr id="5" name="FRight"/>
          <p:cNvSpPr/>
          <p:nvPr/>
        </p:nvSpPr>
        <p:spPr>
          <a:xfrm>
            <a:off x="10692000" y="6458000"/>
            <a:ext cx="800000" cy="300000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algn="ctr" spcBef="0">
              <a:spcAft>0</a:spcAft>
            </a:pPr>
            <a:r>
              <a:rPr lang="fr-FR" sz="1200">
                <a:solidFill>
                  <a:srgbClr val="94A3B8"/>
                </a:solidFill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xFleet">
  <a:themeElements>
    <a:clrScheme name="NexFleet">
      <a:dk1>
        <a:srgbClr val="0F1117"/>
      </a:dk1>
      <a:lt1>
        <a:srgbClr val="E2E8F0"/>
      </a:lt1>
      <a:dk2>
        <a:srgbClr val="161A24"/>
      </a:dk2>
      <a:lt2>
        <a:srgbClr val="F8FAFC"/>
      </a:lt2>
      <a:accent1>
        <a:srgbClr val="38BDF8"/>
      </a:accent1>
      <a:accent2>
        <a:srgbClr val="22C55E"/>
      </a:accent2>
      <a:accent3>
        <a:srgbClr val="F59E0B"/>
      </a:accent3>
      <a:accent4>
        <a:srgbClr val="EF4444"/>
      </a:accent4>
      <a:accent5>
        <a:srgbClr val="8B5CF6"/>
      </a:accent5>
      <a:accent6>
        <a:srgbClr val="14B8A6"/>
      </a:accent6>
      <a:hlink>
        <a:srgbClr val="38BDF8"/>
      </a:hlink>
      <a:folHlink>
        <a:srgbClr val="7DD3FC"/>
      </a:folHlink>
    </a:clrScheme>
    <a:fontScheme name="NexFleet">
      <a:majorFont>
        <a:latin typeface="Arial"/>
      </a:majorFont>
      <a:minorFont>
        <a:latin typeface="Arial"/>
      </a:minorFont>
    </a:fontScheme>
    <a:fmtScheme name="NexFlee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NexFleet</Application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NexFleet — Gestion de parc automobile</dc:title>
  <dc:subject>Présentation du projet</dc:subject>
  <dc:creator>NexFleet</dc:creator>
  <cp:lastModifiedBy>NexFleet</cp:lastModifiedBy>
  <cp:revision>1</cp:revision>
</cp:coreProperties>
</file>